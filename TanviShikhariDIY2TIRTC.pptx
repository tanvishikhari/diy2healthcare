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87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Tanvi Praveen </a:t>
            </a:r>
            <a:r>
              <a:rPr lang="en-US" b="0" dirty="0" err="1">
                <a:solidFill>
                  <a:schemeClr val="tx1"/>
                </a:solidFill>
              </a:rPr>
              <a:t>Shikhari</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Project Title - </a:t>
            </a:r>
            <a:r>
              <a:rPr lang="en-IN" dirty="0"/>
              <a:t>Healthcare Analytics for Doctor Visits</a:t>
            </a: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70000" lnSpcReduction="20000"/>
          </a:bodyPr>
          <a:lstStyle/>
          <a:p>
            <a:pPr marL="0" indent="0">
              <a:lnSpc>
                <a:spcPct val="100000"/>
              </a:lnSpc>
              <a:buNone/>
            </a:pPr>
            <a:r>
              <a:rPr lang="en-IN" sz="2800" dirty="0"/>
              <a:t>Healthcare data contains valuable information about patients, their health conditions, and their utilization of medical services. However, </a:t>
            </a:r>
            <a:r>
              <a:rPr lang="en-IN" sz="2800" dirty="0" err="1"/>
              <a:t>analyzing</a:t>
            </a:r>
            <a:r>
              <a:rPr lang="en-IN" sz="2800" dirty="0"/>
              <a:t> this data is necessary to identify patterns in doctor visits and understand how factors such as age, gender, income, illness, healthcare access, and chronic health conditions are associated with healthcare utilization. This project aims to </a:t>
            </a:r>
            <a:r>
              <a:rPr lang="en-IN" sz="2800" dirty="0" err="1"/>
              <a:t>analyze</a:t>
            </a:r>
            <a:r>
              <a:rPr lang="en-IN" sz="2800" dirty="0"/>
              <a:t> the given healthcare dataset using exploratory data analysis and visualization techniques to identify meaningful patterns in doctor visits and provide insights into the factors associated with healthcare utilization.</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E25EE6ED-40D9-6A77-CD16-FD287E34B3FB}"/>
              </a:ext>
            </a:extLst>
          </p:cNvPr>
          <p:cNvSpPr txBox="1"/>
          <p:nvPr/>
        </p:nvSpPr>
        <p:spPr>
          <a:xfrm>
            <a:off x="675957" y="1909124"/>
            <a:ext cx="8877299" cy="2585323"/>
          </a:xfrm>
          <a:prstGeom prst="rect">
            <a:avLst/>
          </a:prstGeom>
          <a:noFill/>
        </p:spPr>
        <p:txBody>
          <a:bodyPr wrap="square" rtlCol="0">
            <a:spAutoFit/>
          </a:bodyPr>
          <a:lstStyle/>
          <a:p>
            <a:r>
              <a:rPr lang="en-IN" dirty="0"/>
              <a:t>This project focuses on </a:t>
            </a:r>
            <a:r>
              <a:rPr lang="en-IN" dirty="0" err="1"/>
              <a:t>analyzing</a:t>
            </a:r>
            <a:r>
              <a:rPr lang="en-IN" dirty="0"/>
              <a:t> healthcare data to understand patterns in doctor visits and the factors associated with healthcare utilization. The dataset contains information related to patients’ doctor visits, gender, age, income, illness, reduced activity, health conditions, healthcare access, and chronic illnesses. Exploratory Data Analysis techniques are used to examine the dataset, perform statistical analysis, and identify relationships between different variables. Data visualization techniques are also used to represent the findings clearly and understand patterns in doctor visits based on demographic and health-related factors.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587500"/>
            <a:ext cx="8163561" cy="3990023"/>
          </a:xfrm>
        </p:spPr>
        <p:txBody>
          <a:bodyPr>
            <a:noAutofit/>
          </a:bodyPr>
          <a:lstStyle/>
          <a:p>
            <a:r>
              <a:rPr lang="en-IN" sz="1400" b="1" dirty="0"/>
              <a:t>Healthcare Providers</a:t>
            </a:r>
            <a:endParaRPr lang="en-IN" sz="1400" dirty="0"/>
          </a:p>
          <a:p>
            <a:pPr marL="0" lvl="0" indent="0">
              <a:buNone/>
            </a:pPr>
            <a:r>
              <a:rPr lang="en-IN" sz="1400" dirty="0"/>
              <a:t>	Understand patterns in patient healthcare utilization. </a:t>
            </a:r>
          </a:p>
          <a:p>
            <a:pPr marL="0" lvl="0" indent="0">
              <a:buNone/>
            </a:pPr>
            <a:r>
              <a:rPr lang="en-IN" sz="1400" dirty="0"/>
              <a:t>	Identify groups with higher healthcare needs. </a:t>
            </a:r>
          </a:p>
          <a:p>
            <a:r>
              <a:rPr lang="en-IN" sz="1400" b="1" dirty="0"/>
              <a:t>Hospitals &amp; Clinics</a:t>
            </a:r>
          </a:p>
          <a:p>
            <a:pPr marL="0" indent="0">
              <a:buNone/>
            </a:pPr>
            <a:r>
              <a:rPr lang="en-IN" sz="1400" dirty="0"/>
              <a:t> 	Support healthcare resource planning. </a:t>
            </a:r>
          </a:p>
          <a:p>
            <a:pPr marL="0" lvl="0" indent="0">
              <a:buNone/>
            </a:pPr>
            <a:r>
              <a:rPr lang="en-IN" sz="1400" dirty="0"/>
              <a:t>	Understand patient visit patterns. </a:t>
            </a:r>
          </a:p>
          <a:p>
            <a:r>
              <a:rPr lang="en-IN" sz="1400" b="1" dirty="0"/>
              <a:t>Healthcare Analysts</a:t>
            </a:r>
            <a:endParaRPr lang="en-IN" sz="1400" dirty="0"/>
          </a:p>
          <a:p>
            <a:pPr marL="0" lvl="0" indent="0">
              <a:buNone/>
            </a:pPr>
            <a:r>
              <a:rPr lang="en-IN" sz="1400" dirty="0"/>
              <a:t>	</a:t>
            </a:r>
            <a:r>
              <a:rPr lang="en-IN" sz="1400" dirty="0" err="1"/>
              <a:t>Analyze</a:t>
            </a:r>
            <a:r>
              <a:rPr lang="en-IN" sz="1400" dirty="0"/>
              <a:t> demographic and health-related trends. </a:t>
            </a:r>
          </a:p>
          <a:p>
            <a:pPr marL="0" lvl="0" indent="0">
              <a:buNone/>
            </a:pPr>
            <a:r>
              <a:rPr lang="en-IN" sz="1400" dirty="0"/>
              <a:t>	Generate insights from patient data. </a:t>
            </a:r>
          </a:p>
          <a:p>
            <a:r>
              <a:rPr lang="en-IN" sz="1400" b="1" dirty="0"/>
              <a:t>Researchers</a:t>
            </a:r>
            <a:endParaRPr lang="en-IN" sz="1400" dirty="0"/>
          </a:p>
          <a:p>
            <a:pPr marL="0" lvl="0" indent="0">
              <a:buNone/>
            </a:pPr>
            <a:r>
              <a:rPr lang="en-IN" sz="1400" dirty="0"/>
              <a:t>	Study relationships between health conditions and healthcare usage. </a:t>
            </a:r>
          </a:p>
          <a:p>
            <a:r>
              <a:rPr lang="en-IN" sz="1400" b="1" dirty="0"/>
              <a:t>Healthcare Management</a:t>
            </a:r>
            <a:endParaRPr lang="en-IN" sz="1400" dirty="0"/>
          </a:p>
          <a:p>
            <a:pPr marL="0" lvl="0" indent="0">
              <a:buNone/>
            </a:pPr>
            <a:r>
              <a:rPr lang="en-IN" sz="1400" dirty="0"/>
              <a:t>	Use data-driven insights for planning and decision-making.</a:t>
            </a:r>
          </a:p>
          <a:p>
            <a:pPr algn="just">
              <a:lnSpc>
                <a:spcPct val="150000"/>
              </a:lnSpc>
            </a:pPr>
            <a:endParaRPr lang="en-IN" sz="1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620008" y="6288406"/>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083138"/>
            <a:ext cx="7223761" cy="5243448"/>
          </a:xfrm>
        </p:spPr>
        <p:txBody>
          <a:bodyPr>
            <a:normAutofit fontScale="40000" lnSpcReduction="20000"/>
          </a:bodyPr>
          <a:lstStyle/>
          <a:p>
            <a:pPr>
              <a:lnSpc>
                <a:spcPct val="120000"/>
              </a:lnSpc>
            </a:pPr>
            <a:r>
              <a:rPr lang="en-IN" sz="3500" b="1" dirty="0"/>
              <a:t>Programming Language</a:t>
            </a:r>
            <a:endParaRPr lang="en-IN" sz="3500" dirty="0"/>
          </a:p>
          <a:p>
            <a:pPr marL="0" indent="0">
              <a:lnSpc>
                <a:spcPct val="120000"/>
              </a:lnSpc>
              <a:buNone/>
            </a:pPr>
            <a:r>
              <a:rPr lang="en-IN" sz="3500" dirty="0"/>
              <a:t>	Python </a:t>
            </a:r>
          </a:p>
          <a:p>
            <a:pPr>
              <a:lnSpc>
                <a:spcPct val="120000"/>
              </a:lnSpc>
            </a:pPr>
            <a:r>
              <a:rPr lang="en-IN" sz="3500" b="1" dirty="0"/>
              <a:t>Libraries</a:t>
            </a:r>
            <a:endParaRPr lang="en-IN" sz="3500" dirty="0"/>
          </a:p>
          <a:p>
            <a:pPr marL="0" lvl="0" indent="0">
              <a:lnSpc>
                <a:spcPct val="120000"/>
              </a:lnSpc>
              <a:buNone/>
            </a:pPr>
            <a:r>
              <a:rPr lang="en-IN" sz="3500" dirty="0"/>
              <a:t>	Pandas — Data loading and manipulation </a:t>
            </a:r>
          </a:p>
          <a:p>
            <a:pPr marL="0" lvl="0" indent="0">
              <a:lnSpc>
                <a:spcPct val="120000"/>
              </a:lnSpc>
              <a:buNone/>
            </a:pPr>
            <a:r>
              <a:rPr lang="en-IN" sz="3500" dirty="0"/>
              <a:t>	NumPy — Numerical operations </a:t>
            </a:r>
          </a:p>
          <a:p>
            <a:pPr marL="0" lvl="0" indent="0">
              <a:lnSpc>
                <a:spcPct val="120000"/>
              </a:lnSpc>
              <a:buNone/>
            </a:pPr>
            <a:r>
              <a:rPr lang="en-IN" sz="3500" dirty="0"/>
              <a:t>	Matplotlib — Data visualization </a:t>
            </a:r>
          </a:p>
          <a:p>
            <a:pPr marL="0" lvl="0" indent="0">
              <a:lnSpc>
                <a:spcPct val="120000"/>
              </a:lnSpc>
              <a:buNone/>
            </a:pPr>
            <a:r>
              <a:rPr lang="en-IN" sz="3500" dirty="0"/>
              <a:t>	Seaborn — Statistical visualization </a:t>
            </a:r>
          </a:p>
          <a:p>
            <a:pPr>
              <a:lnSpc>
                <a:spcPct val="120000"/>
              </a:lnSpc>
            </a:pPr>
            <a:r>
              <a:rPr lang="en-IN" sz="3500" b="1" dirty="0"/>
              <a:t>Analysis Techniques</a:t>
            </a:r>
            <a:endParaRPr lang="en-IN" sz="3500" dirty="0"/>
          </a:p>
          <a:p>
            <a:pPr marL="0" lvl="0" indent="0">
              <a:lnSpc>
                <a:spcPct val="120000"/>
              </a:lnSpc>
              <a:buNone/>
            </a:pPr>
            <a:r>
              <a:rPr lang="en-IN" sz="3500" dirty="0"/>
              <a:t>	Exploratory Data Analysis (EDA) </a:t>
            </a:r>
          </a:p>
          <a:p>
            <a:pPr marL="0" lvl="0" indent="0">
              <a:lnSpc>
                <a:spcPct val="120000"/>
              </a:lnSpc>
              <a:buNone/>
            </a:pPr>
            <a:r>
              <a:rPr lang="en-IN" sz="3500" dirty="0"/>
              <a:t>	Descriptive Statistics </a:t>
            </a:r>
          </a:p>
          <a:p>
            <a:pPr marL="0" lvl="0" indent="0">
              <a:lnSpc>
                <a:spcPct val="120000"/>
              </a:lnSpc>
              <a:buNone/>
            </a:pPr>
            <a:r>
              <a:rPr lang="en-IN" sz="3500" dirty="0"/>
              <a:t>	Univariate Analysis </a:t>
            </a:r>
          </a:p>
          <a:p>
            <a:pPr marL="0" lvl="0" indent="0">
              <a:lnSpc>
                <a:spcPct val="120000"/>
              </a:lnSpc>
              <a:buNone/>
            </a:pPr>
            <a:r>
              <a:rPr lang="en-IN" sz="3500" dirty="0"/>
              <a:t>	Multivariate Analysis </a:t>
            </a:r>
          </a:p>
          <a:p>
            <a:pPr marL="0" lvl="0" indent="0">
              <a:lnSpc>
                <a:spcPct val="120000"/>
              </a:lnSpc>
              <a:buNone/>
            </a:pPr>
            <a:r>
              <a:rPr lang="en-IN" sz="3500" dirty="0"/>
              <a:t>	Data Visualization </a:t>
            </a:r>
          </a:p>
          <a:p>
            <a:pPr>
              <a:lnSpc>
                <a:spcPct val="120000"/>
              </a:lnSpc>
            </a:pPr>
            <a:r>
              <a:rPr lang="en-IN" sz="3500" b="1" dirty="0"/>
              <a:t>Environment</a:t>
            </a:r>
            <a:endParaRPr lang="en-IN" sz="3500" dirty="0"/>
          </a:p>
          <a:p>
            <a:pPr marL="0" lvl="0" indent="0">
              <a:lnSpc>
                <a:spcPct val="120000"/>
              </a:lnSpc>
              <a:buNone/>
            </a:pPr>
            <a:r>
              <a:rPr lang="en-IN" sz="3500" dirty="0"/>
              <a:t>	Google </a:t>
            </a:r>
            <a:r>
              <a:rPr lang="en-IN" sz="3500" dirty="0" err="1"/>
              <a:t>Colab</a:t>
            </a:r>
            <a:endParaRPr lang="en-IN" sz="3500" dirty="0"/>
          </a:p>
          <a:p>
            <a:pPr lvl="1">
              <a:lnSpc>
                <a:spcPct val="12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15144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3" end="13"/>
                                            </p:txEl>
                                          </p:spTgt>
                                        </p:tgtEl>
                                        <p:attrNameLst>
                                          <p:attrName>style.visibility</p:attrName>
                                        </p:attrNameLst>
                                      </p:cBhvr>
                                      <p:to>
                                        <p:strVal val="visible"/>
                                      </p:to>
                                    </p:set>
                                    <p:animEffect transition="in" filter="fade">
                                      <p:cBhvr>
                                        <p:cTn id="105" dur="1000"/>
                                        <p:tgtEl>
                                          <p:spTgt spid="7">
                                            <p:txEl>
                                              <p:pRg st="13" end="13"/>
                                            </p:txEl>
                                          </p:spTgt>
                                        </p:tgtEl>
                                      </p:cBhvr>
                                    </p:animEffect>
                                    <p:anim calcmode="lin" valueType="num">
                                      <p:cBhvr>
                                        <p:cTn id="106"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4" end="14"/>
                                            </p:txEl>
                                          </p:spTgt>
                                        </p:tgtEl>
                                        <p:attrNameLst>
                                          <p:attrName>style.visibility</p:attrName>
                                        </p:attrNameLst>
                                      </p:cBhvr>
                                      <p:to>
                                        <p:strVal val="visible"/>
                                      </p:to>
                                    </p:set>
                                    <p:animEffect transition="in" filter="fade">
                                      <p:cBhvr>
                                        <p:cTn id="112" dur="1000"/>
                                        <p:tgtEl>
                                          <p:spTgt spid="7">
                                            <p:txEl>
                                              <p:pRg st="14" end="14"/>
                                            </p:txEl>
                                          </p:spTgt>
                                        </p:tgtEl>
                                      </p:cBhvr>
                                    </p:animEffect>
                                    <p:anim calcmode="lin" valueType="num">
                                      <p:cBhvr>
                                        <p:cTn id="113"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586667EE-2D53-7937-2F65-C4CF38EFE3AD}"/>
              </a:ext>
            </a:extLst>
          </p:cNvPr>
          <p:cNvPicPr>
            <a:picLocks noChangeAspect="1"/>
          </p:cNvPicPr>
          <p:nvPr/>
        </p:nvPicPr>
        <p:blipFill>
          <a:blip r:embed="rId4"/>
          <a:stretch>
            <a:fillRect/>
          </a:stretch>
        </p:blipFill>
        <p:spPr>
          <a:xfrm>
            <a:off x="320982" y="1275371"/>
            <a:ext cx="5267018" cy="4040756"/>
          </a:xfrm>
          <a:prstGeom prst="rect">
            <a:avLst/>
          </a:prstGeom>
        </p:spPr>
      </p:pic>
      <p:pic>
        <p:nvPicPr>
          <p:cNvPr id="12" name="Picture 11">
            <a:extLst>
              <a:ext uri="{FF2B5EF4-FFF2-40B4-BE49-F238E27FC236}">
                <a16:creationId xmlns:a16="http://schemas.microsoft.com/office/drawing/2014/main" id="{618D832B-C398-F1B7-C908-0470F1798927}"/>
              </a:ext>
            </a:extLst>
          </p:cNvPr>
          <p:cNvPicPr>
            <a:picLocks noChangeAspect="1"/>
          </p:cNvPicPr>
          <p:nvPr/>
        </p:nvPicPr>
        <p:blipFill>
          <a:blip r:embed="rId5"/>
          <a:stretch>
            <a:fillRect/>
          </a:stretch>
        </p:blipFill>
        <p:spPr>
          <a:xfrm>
            <a:off x="5875733" y="89024"/>
            <a:ext cx="4265878" cy="3202816"/>
          </a:xfrm>
          <a:prstGeom prst="rect">
            <a:avLst/>
          </a:prstGeom>
        </p:spPr>
      </p:pic>
      <p:pic>
        <p:nvPicPr>
          <p:cNvPr id="15" name="Picture 14">
            <a:extLst>
              <a:ext uri="{FF2B5EF4-FFF2-40B4-BE49-F238E27FC236}">
                <a16:creationId xmlns:a16="http://schemas.microsoft.com/office/drawing/2014/main" id="{36A745AD-C625-46B3-2475-D1510FDAA27E}"/>
              </a:ext>
            </a:extLst>
          </p:cNvPr>
          <p:cNvPicPr>
            <a:picLocks noChangeAspect="1"/>
          </p:cNvPicPr>
          <p:nvPr/>
        </p:nvPicPr>
        <p:blipFill>
          <a:blip r:embed="rId6"/>
          <a:stretch>
            <a:fillRect/>
          </a:stretch>
        </p:blipFill>
        <p:spPr>
          <a:xfrm>
            <a:off x="5812245" y="3362318"/>
            <a:ext cx="4384438" cy="340665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A228-BBDD-B3A4-3618-D47EFA30E6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98320B-56BE-A0D2-F9AB-3C610A3261D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56BD15-23D4-158A-3F16-74E0461A068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B9D1B6F-DF25-4998-8647-84ECE22551D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EC645F9-5E90-1211-C29A-BAAA6EC2959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F911F71-D6C8-D9E1-9E10-CE5733965BA7}"/>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0" name="Picture 9">
            <a:extLst>
              <a:ext uri="{FF2B5EF4-FFF2-40B4-BE49-F238E27FC236}">
                <a16:creationId xmlns:a16="http://schemas.microsoft.com/office/drawing/2014/main" id="{EE473F82-B890-3650-369B-FFA2EA481816}"/>
              </a:ext>
            </a:extLst>
          </p:cNvPr>
          <p:cNvPicPr>
            <a:picLocks noChangeAspect="1"/>
          </p:cNvPicPr>
          <p:nvPr/>
        </p:nvPicPr>
        <p:blipFill>
          <a:blip r:embed="rId4"/>
          <a:stretch>
            <a:fillRect/>
          </a:stretch>
        </p:blipFill>
        <p:spPr>
          <a:xfrm>
            <a:off x="6426515" y="15066"/>
            <a:ext cx="4993325" cy="3315746"/>
          </a:xfrm>
          <a:prstGeom prst="rect">
            <a:avLst/>
          </a:prstGeom>
        </p:spPr>
      </p:pic>
      <p:pic>
        <p:nvPicPr>
          <p:cNvPr id="13" name="Picture 12">
            <a:extLst>
              <a:ext uri="{FF2B5EF4-FFF2-40B4-BE49-F238E27FC236}">
                <a16:creationId xmlns:a16="http://schemas.microsoft.com/office/drawing/2014/main" id="{FF3C581B-1BCD-F272-DDCE-A2E947D1B811}"/>
              </a:ext>
            </a:extLst>
          </p:cNvPr>
          <p:cNvPicPr>
            <a:picLocks noChangeAspect="1"/>
          </p:cNvPicPr>
          <p:nvPr/>
        </p:nvPicPr>
        <p:blipFill>
          <a:blip r:embed="rId5"/>
          <a:stretch>
            <a:fillRect/>
          </a:stretch>
        </p:blipFill>
        <p:spPr>
          <a:xfrm>
            <a:off x="334382" y="1382767"/>
            <a:ext cx="5410982" cy="4274300"/>
          </a:xfrm>
          <a:prstGeom prst="rect">
            <a:avLst/>
          </a:prstGeom>
        </p:spPr>
      </p:pic>
      <p:pic>
        <p:nvPicPr>
          <p:cNvPr id="14" name="Picture 13">
            <a:extLst>
              <a:ext uri="{FF2B5EF4-FFF2-40B4-BE49-F238E27FC236}">
                <a16:creationId xmlns:a16="http://schemas.microsoft.com/office/drawing/2014/main" id="{99E81770-E46B-159A-9B66-1CAAC35B3284}"/>
              </a:ext>
            </a:extLst>
          </p:cNvPr>
          <p:cNvPicPr>
            <a:picLocks noChangeAspect="1"/>
          </p:cNvPicPr>
          <p:nvPr/>
        </p:nvPicPr>
        <p:blipFill>
          <a:blip r:embed="rId6"/>
          <a:stretch>
            <a:fillRect/>
          </a:stretch>
        </p:blipFill>
        <p:spPr>
          <a:xfrm>
            <a:off x="6350435" y="3413197"/>
            <a:ext cx="5069405" cy="3444803"/>
          </a:xfrm>
          <a:prstGeom prst="rect">
            <a:avLst/>
          </a:prstGeom>
        </p:spPr>
      </p:pic>
    </p:spTree>
    <p:extLst>
      <p:ext uri="{BB962C8B-B14F-4D97-AF65-F5344CB8AC3E}">
        <p14:creationId xmlns:p14="http://schemas.microsoft.com/office/powerpoint/2010/main" val="339360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607</TotalTime>
  <Words>356</Words>
  <Application>Microsoft Office PowerPoint</Application>
  <PresentationFormat>Widescreen</PresentationFormat>
  <Paragraphs>44</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Trebuchet MS</vt:lpstr>
      <vt:lpstr>Wingdings</vt:lpstr>
      <vt:lpstr>Wingdings 3</vt:lpstr>
      <vt:lpstr>Facet</vt:lpstr>
      <vt:lpstr>Project Title - Healthcare Analytics for Doctor Visits </vt:lpstr>
      <vt:lpstr>PROBLEM  STATEMENT</vt:lpstr>
      <vt:lpstr>Project Description   </vt:lpstr>
      <vt:lpstr>WHO ARE THE END USERS?</vt:lpstr>
      <vt:lpstr>Technology Used</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tanvishikhari118@gmail.com</cp:lastModifiedBy>
  <cp:revision>74</cp:revision>
  <dcterms:created xsi:type="dcterms:W3CDTF">2021-07-11T13:13:15Z</dcterms:created>
  <dcterms:modified xsi:type="dcterms:W3CDTF">2026-10-01T06:36:18Z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